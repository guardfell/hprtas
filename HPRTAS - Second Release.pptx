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TextBox 1"/>
          <p:cNvSpPr txBox="1"/>
          <p:nvPr/>
        </p:nvSpPr>
        <p:spPr>
          <a:xfrm>
            <a:off x="822960" y="1234440"/>
            <a:ext cx="10515600" cy="4754880"/>
          </a:xfrm>
          <a:prstGeom prst="rect">
            <a:avLst/>
          </a:prstGeom>
          <a:noFill/>
        </p:spPr>
        <p:txBody>
          <a:bodyPr wrap="square">
            <a:spAutoFit/>
          </a:bodyPr>
          <a:lstStyle/>
          <a:p>
            <a:pPr>
              <a:spcAft>
                <a:spcPts val="400"/>
              </a:spcAft>
            </a:pPr>
            <a:r>
              <a:rPr sz="4600" b="1" i="0">
                <a:solidFill>
                  <a:srgbClr val="FFFFFF"/>
                </a:solidFill>
                <a:latin typeface="Segoe UI"/>
              </a:rPr>
              <a:t>HPRTAS</a:t>
            </a:r>
          </a:p>
          <a:p>
            <a:pPr>
              <a:spcAft>
                <a:spcPts val="1400"/>
              </a:spcAft>
            </a:pPr>
            <a:r>
              <a:rPr sz="2300" b="0" i="0">
                <a:solidFill>
                  <a:srgbClr val="9FD3DD"/>
                </a:solidFill>
                <a:latin typeface="Segoe UI"/>
              </a:rPr>
              <a:t>Second release  ·  22 October 2026</a:t>
            </a:r>
          </a:p>
          <a:p>
            <a:pPr>
              <a:spcAft>
                <a:spcPts val="1000"/>
              </a:spcAft>
            </a:pPr>
            <a:r>
              <a:rPr sz="1600" b="0" i="0">
                <a:solidFill>
                  <a:srgbClr val="C9D3DC"/>
                </a:solidFill>
                <a:latin typeface="Segoe UI"/>
              </a:rPr>
              <a:t>Hospital Patient Referral, Treatment and Administration System</a:t>
            </a:r>
          </a:p>
          <a:p>
            <a:pPr>
              <a:spcAft>
                <a:spcPts val="1800"/>
              </a:spcAft>
            </a:pPr>
            <a:r>
              <a:rPr sz="1300" b="0" i="0">
                <a:solidFill>
                  <a:srgbClr val="C9D3DC"/>
                </a:solidFill>
                <a:latin typeface="Segoe UI"/>
              </a:rPr>
              <a:t>The system updated and integrated after the first review: what was built, what the feedback changed, what is still open and why, how the plan held against what happened, and how to run and check the whole thing.</a:t>
            </a:r>
          </a:p>
          <a:p>
            <a:pPr>
              <a:spcAft>
                <a:spcPts val="200"/>
              </a:spcAft>
            </a:pPr>
            <a:r>
              <a:rPr sz="1100" b="0" i="0">
                <a:solidFill>
                  <a:srgbClr val="7E8C9A"/>
                </a:solidFill>
                <a:latin typeface="Segoe UI"/>
              </a:rPr>
              <a:t>github.com/GuardFell/HPRTAS   ·   read it at tag submission-2026-10-22   ·   the initial release is tag submission-2026-09-29</a:t>
            </a:r>
          </a:p>
          <a:p>
            <a:pPr>
              <a:spcAft>
                <a:spcPts val="0"/>
              </a:spcAft>
            </a:pPr>
            <a:r>
              <a:rPr sz="1100" b="0" i="0">
                <a:solidFill>
                  <a:srgbClr val="7E8C9A"/>
                </a:solidFill>
                <a:latin typeface="Segoe UI"/>
              </a:rPr>
              <a:t>Every slide's footer names the artefact its claims come from; slide 16 is the reference and evidence list.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What this deck covers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the deck itself: tools/build_second_release_deck.py; the first-release deck is HPRTAS - Five Executable Processes.pptx</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700"/>
              </a:spcAft>
            </a:pPr>
            <a:r>
              <a:rPr sz="1250" b="0" i="0">
                <a:solidFill>
                  <a:srgbClr val="535F6B"/>
                </a:solidFill>
                <a:latin typeface="Segoe UI"/>
              </a:rPr>
              <a:t>•  The system at a glance — six executable processes, 43 forms, eight workers, a record store</a:t>
            </a:r>
          </a:p>
          <a:p>
            <a:pPr>
              <a:spcAft>
                <a:spcPts val="700"/>
              </a:spcAft>
            </a:pPr>
            <a:r>
              <a:rPr sz="1250" b="0" i="0">
                <a:solidFill>
                  <a:srgbClr val="535F6B"/>
                </a:solidFill>
                <a:latin typeface="Segoe UI"/>
              </a:rPr>
              <a:t>•  The second release — what moved between the initial release and the revised version</a:t>
            </a:r>
          </a:p>
          <a:p>
            <a:pPr>
              <a:spcAft>
                <a:spcPts val="700"/>
              </a:spcAft>
            </a:pPr>
            <a:r>
              <a:rPr sz="1250" b="0" i="0">
                <a:solidFill>
                  <a:srgbClr val="535F6B"/>
                </a:solidFill>
                <a:latin typeface="Segoe UI"/>
              </a:rPr>
              <a:t>•  Further development — the pathway integrated, the records kept, the forms and the models corrected</a:t>
            </a:r>
          </a:p>
          <a:p>
            <a:pPr>
              <a:spcAft>
                <a:spcPts val="700"/>
              </a:spcAft>
            </a:pPr>
            <a:r>
              <a:rPr sz="1250" b="0" i="0">
                <a:solidFill>
                  <a:srgbClr val="535F6B"/>
                </a:solidFill>
                <a:latin typeface="Segoe UI"/>
              </a:rPr>
              <a:t>•  Response to feedback — every point of the 21 review sheets, and what is not done, with the reason</a:t>
            </a:r>
          </a:p>
          <a:p>
            <a:pPr>
              <a:spcAft>
                <a:spcPts val="700"/>
              </a:spcAft>
            </a:pPr>
            <a:r>
              <a:rPr sz="1250" b="0" i="0">
                <a:solidFill>
                  <a:srgbClr val="535F6B"/>
                </a:solidFill>
                <a:latin typeface="Segoe UI"/>
              </a:rPr>
              <a:t>•  Project plan evaluation — planned against actual, and where the plan was wrong</a:t>
            </a:r>
          </a:p>
          <a:p>
            <a:pPr>
              <a:spcAft>
                <a:spcPts val="700"/>
              </a:spcAft>
            </a:pPr>
            <a:r>
              <a:rPr sz="1250" b="0" i="0">
                <a:solidFill>
                  <a:srgbClr val="535F6B"/>
                </a:solidFill>
                <a:latin typeface="Segoe UI"/>
              </a:rPr>
              <a:t>•  The acceptance criteria and the requirements at the revised version</a:t>
            </a:r>
          </a:p>
          <a:p>
            <a:pPr>
              <a:spcAft>
                <a:spcPts val="700"/>
              </a:spcAft>
            </a:pPr>
            <a:r>
              <a:rPr sz="1250" b="0" i="0">
                <a:solidFill>
                  <a:srgbClr val="535F6B"/>
                </a:solidFill>
                <a:latin typeface="Segoe UI"/>
              </a:rPr>
              <a:t>•  Repository, versions and how to run — and where each claim's evidence lives</a:t>
            </a:r>
          </a:p>
          <a:p>
            <a:pPr>
              <a:spcAft>
                <a:spcPts val="700"/>
              </a:spcAft>
            </a:pPr>
            <a:r>
              <a:rPr sz="1250" b="0" i="0">
                <a:solidFill>
                  <a:srgbClr val="535F6B"/>
                </a:solidFill>
                <a:latin typeface="Segoe UI"/>
              </a:rPr>
              <a:t>•  References — slide 16 lists the artefacts every slide footer points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The system at a glance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README.md; models/README.md; forms/README.md; workers/README.md; tests/evidence/workers-and-models_378b319_2026-10-15.txt</a:t>
            </a:r>
          </a:p>
        </p:txBody>
      </p:sp>
      <p:graphicFrame>
        <p:nvGraphicFramePr>
          <p:cNvPr id="5" name="Table 4"/>
          <p:cNvGraphicFramePr>
            <a:graphicFrameLocks noGrp="1"/>
          </p:cNvGraphicFramePr>
          <p:nvPr/>
        </p:nvGraphicFramePr>
        <p:xfrm>
          <a:off x="566928" y="1024128"/>
          <a:ext cx="11064240" cy="4608576"/>
        </p:xfrm>
        <a:graphic>
          <a:graphicData uri="http://schemas.openxmlformats.org/drawingml/2006/table">
            <a:tbl>
              <a:tblPr>
                <a:tableStyleId>{5C22544A-7EE6-4342-B048-85BDC9FD1C3A}</a:tableStyleId>
              </a:tblPr>
              <a:tblGrid>
                <a:gridCol w="1188720"/>
                <a:gridCol w="6766560"/>
                <a:gridCol w="3108960"/>
              </a:tblGrid>
              <a:tr h="658368">
                <a:tc>
                  <a:txBody>
                    <a:bodyPr wrap="square"/>
                    <a:lstStyle/>
                    <a:p>
                      <a:pPr>
                        <a:spcAft>
                          <a:spcPts val="0"/>
                        </a:spcAft>
                      </a:pPr>
                      <a:r>
                        <a:rPr sz="1050" b="1">
                          <a:solidFill>
                            <a:srgbClr val="FFFFFF"/>
                          </a:solidFill>
                          <a:latin typeface="Segoe UI"/>
                        </a:rPr>
                        <a:t/>
                      </a:r>
                    </a:p>
                  </a:txBody>
                  <a:tcPr marL="64008" marR="45720" marT="18288" marB="18288" anchor="t">
                    <a:solidFill>
                      <a:srgbClr val="10233A"/>
                    </a:solidFill>
                  </a:tcPr>
                </a:tc>
                <a:tc>
                  <a:txBody>
                    <a:bodyPr wrap="square"/>
                    <a:lstStyle/>
                    <a:p>
                      <a:pPr>
                        <a:spcAft>
                          <a:spcPts val="0"/>
                        </a:spcAft>
                      </a:pPr>
                      <a:r>
                        <a:rPr sz="1050" b="1">
                          <a:solidFill>
                            <a:srgbClr val="FFFFFF"/>
                          </a:solidFill>
                          <a:latin typeface="Segoe UI"/>
                        </a:rPr>
                        <a:t>What it is</a:t>
                      </a:r>
                    </a:p>
                  </a:txBody>
                  <a:tcPr marL="64008" marR="45720" marT="18288" marB="18288" anchor="t">
                    <a:solidFill>
                      <a:srgbClr val="10233A"/>
                    </a:solidFill>
                  </a:tcPr>
                </a:tc>
                <a:tc>
                  <a:txBody>
                    <a:bodyPr wrap="square"/>
                    <a:lstStyle/>
                    <a:p>
                      <a:pPr>
                        <a:spcAft>
                          <a:spcPts val="0"/>
                        </a:spcAft>
                      </a:pPr>
                      <a:r>
                        <a:rPr sz="1050" b="1">
                          <a:solidFill>
                            <a:srgbClr val="FFFFFF"/>
                          </a:solidFill>
                          <a:latin typeface="Segoe UI"/>
                        </a:rPr>
                        <a:t>Where it lives</a:t>
                      </a:r>
                    </a:p>
                  </a:txBody>
                  <a:tcPr marL="64008" marR="45720" marT="18288" marB="18288" anchor="t">
                    <a:solidFill>
                      <a:srgbClr val="10233A"/>
                    </a:solidFill>
                  </a:tcPr>
                </a:tc>
              </a:tr>
              <a:tr h="658368">
                <a:tc>
                  <a:txBody>
                    <a:bodyPr wrap="square"/>
                    <a:lstStyle/>
                    <a:p>
                      <a:pPr>
                        <a:spcAft>
                          <a:spcPts val="0"/>
                        </a:spcAft>
                      </a:pPr>
                      <a:r>
                        <a:rPr sz="1050" b="0">
                          <a:solidFill>
                            <a:srgbClr val="535F6B"/>
                          </a:solidFill>
                          <a:latin typeface="Segoe UI"/>
                        </a:rPr>
                        <a:t>Processes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Six executable BPMN processes on Camunda 8 Run 8.9.19: the five pathway stages and core-0, which calls them in order</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models/operational/</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Forms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43 Camunda Forms; every one of the 61 user tasks and the end-to-end start event binds one</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forms/</a:t>
                      </a:r>
                    </a:p>
                  </a:txBody>
                  <a:tcPr marL="64008" marR="45720" marT="18288" marB="18288" anchor="t">
                    <a:solidFill>
                      <a:srgbClr val="F4F7F9"/>
                    </a:solidFill>
                  </a:tcPr>
                </a:tc>
              </a:tr>
              <a:tr h="658368">
                <a:tc>
                  <a:txBody>
                    <a:bodyPr wrap="square"/>
                    <a:lstStyle/>
                    <a:p>
                      <a:pPr>
                        <a:spcAft>
                          <a:spcPts val="0"/>
                        </a:spcAft>
                      </a:pPr>
                      <a:r>
                        <a:rPr sz="1050" b="0">
                          <a:solidFill>
                            <a:srgbClr val="535F6B"/>
                          </a:solidFill>
                          <a:latin typeface="Segoe UI"/>
                        </a:rPr>
                        <a:t>Workers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Eight external workers (Java 21, Maven) and four simulated external services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workers/</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Records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The hospital's own store, embedded: patient register, referrals, appointments, payment and refund ledger, dispatches, information requests</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workers/…/db/</a:t>
                      </a:r>
                    </a:p>
                  </a:txBody>
                  <a:tcPr marL="64008" marR="45720" marT="18288" marB="18288" anchor="t">
                    <a:solidFill>
                      <a:srgbClr val="F4F7F9"/>
                    </a:solidFill>
                  </a:tcPr>
                </a:tc>
              </a:tr>
              <a:tr h="658368">
                <a:tc>
                  <a:txBody>
                    <a:bodyPr wrap="square"/>
                    <a:lstStyle/>
                    <a:p>
                      <a:pPr>
                        <a:spcAft>
                          <a:spcPts val="0"/>
                        </a:spcAft>
                      </a:pPr>
                      <a:r>
                        <a:rPr sz="1050" b="0">
                          <a:solidFill>
                            <a:srgbClr val="535F6B"/>
                          </a:solidFill>
                          <a:latin typeface="Segoe UI"/>
                        </a:rPr>
                        <a:t>Views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Two strategic BPMN views and the i* Strategic Dependency and Strategic Rationale models</a:t>
                      </a:r>
                    </a:p>
                  </a:txBody>
                  <a:tcPr marL="64008" marR="45720" marT="18288" marB="18288" anchor="t">
                    <a:solidFill>
                      <a:srgbClr val="FFFFFF"/>
                    </a:solidFill>
                  </a:tcPr>
                </a:tc>
                <a:tc>
                  <a:txBody>
                    <a:bodyPr wrap="square"/>
                    <a:lstStyle/>
                    <a:p>
                      <a:pPr>
                        <a:spcAft>
                          <a:spcPts val="0"/>
                        </a:spcAft>
                      </a:pPr>
                      <a:r>
                        <a:rPr sz="1050" b="0">
                          <a:solidFill>
                            <a:srgbClr val="535F6B"/>
                          </a:solidFill>
                          <a:latin typeface="Segoe UI"/>
                        </a:rPr>
                        <a:t>models/strategic/, models/socio-technical/</a:t>
                      </a:r>
                    </a:p>
                  </a:txBody>
                  <a:tcPr marL="64008" marR="45720" marT="18288" marB="18288" anchor="t">
                    <a:solidFill>
                      <a:srgbClr val="FFFFFF"/>
                    </a:solidFill>
                  </a:tcPr>
                </a:tc>
              </a:tr>
              <a:tr h="658368">
                <a:tc>
                  <a:txBody>
                    <a:bodyPr wrap="square"/>
                    <a:lstStyle/>
                    <a:p>
                      <a:pPr>
                        <a:spcAft>
                          <a:spcPts val="0"/>
                        </a:spcAft>
                      </a:pPr>
                      <a:r>
                        <a:rPr sz="1050" b="0">
                          <a:solidFill>
                            <a:srgbClr val="535F6B"/>
                          </a:solidFill>
                          <a:latin typeface="Segoe UI"/>
                        </a:rPr>
                        <a:t>Evidence</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The suite re-run at the revised version: 52 unit tests and 14 engine tests, 0 failures; 25 of 25 scenarios have a result</a:t>
                      </a:r>
                    </a:p>
                  </a:txBody>
                  <a:tcPr marL="64008" marR="45720" marT="18288" marB="18288" anchor="t">
                    <a:solidFill>
                      <a:srgbClr val="F4F7F9"/>
                    </a:solidFill>
                  </a:tcPr>
                </a:tc>
                <a:tc>
                  <a:txBody>
                    <a:bodyPr wrap="square"/>
                    <a:lstStyle/>
                    <a:p>
                      <a:pPr>
                        <a:spcAft>
                          <a:spcPts val="0"/>
                        </a:spcAft>
                      </a:pPr>
                      <a:r>
                        <a:rPr sz="1050" b="0">
                          <a:solidFill>
                            <a:srgbClr val="535F6B"/>
                          </a:solidFill>
                          <a:latin typeface="Segoe UI"/>
                        </a:rPr>
                        <a:t>tests/evidence/</a:t>
                      </a:r>
                    </a:p>
                  </a:txBody>
                  <a:tcPr marL="64008" marR="45720" marT="18288" marB="18288" anchor="t">
                    <a:solidFill>
                      <a:srgbClr val="F4F7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Second release: what moved since the initial release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docs/planning/plan-evaluation.md; tests/test-plan.md; both columns are read at the tag they name</a:t>
            </a:r>
          </a:p>
        </p:txBody>
      </p:sp>
      <p:graphicFrame>
        <p:nvGraphicFramePr>
          <p:cNvPr id="5" name="Table 4"/>
          <p:cNvGraphicFramePr>
            <a:graphicFrameLocks noGrp="1"/>
          </p:cNvGraphicFramePr>
          <p:nvPr/>
        </p:nvGraphicFramePr>
        <p:xfrm>
          <a:off x="566928" y="1024128"/>
          <a:ext cx="11064237" cy="4535424"/>
        </p:xfrm>
        <a:graphic>
          <a:graphicData uri="http://schemas.openxmlformats.org/drawingml/2006/table">
            <a:tbl>
              <a:tblPr>
                <a:tableStyleId>{5C22544A-7EE6-4342-B048-85BDC9FD1C3A}</a:tableStyleId>
              </a:tblPr>
              <a:tblGrid>
                <a:gridCol w="1371599"/>
                <a:gridCol w="3840479"/>
                <a:gridCol w="5852159"/>
              </a:tblGrid>
              <a:tr h="566928">
                <a:tc>
                  <a:txBody>
                    <a:bodyPr wrap="square"/>
                    <a:lstStyle/>
                    <a:p>
                      <a:pPr>
                        <a:spcAft>
                          <a:spcPts val="0"/>
                        </a:spcAft>
                      </a:pPr>
                      <a:r>
                        <a:rPr sz="1000" b="1">
                          <a:solidFill>
                            <a:srgbClr val="FFFFFF"/>
                          </a:solidFill>
                          <a:latin typeface="Segoe UI"/>
                        </a:rPr>
                        <a:t>Dimension</a:t>
                      </a:r>
                    </a:p>
                  </a:txBody>
                  <a:tcPr marL="64008" marR="45720" marT="18288" marB="18288" anchor="t">
                    <a:solidFill>
                      <a:srgbClr val="10233A"/>
                    </a:solidFill>
                  </a:tcPr>
                </a:tc>
                <a:tc>
                  <a:txBody>
                    <a:bodyPr wrap="square"/>
                    <a:lstStyle/>
                    <a:p>
                      <a:pPr>
                        <a:spcAft>
                          <a:spcPts val="0"/>
                        </a:spcAft>
                      </a:pPr>
                      <a:r>
                        <a:rPr sz="1000" b="1">
                          <a:solidFill>
                            <a:srgbClr val="FFFFFF"/>
                          </a:solidFill>
                          <a:latin typeface="Segoe UI"/>
                        </a:rPr>
                        <a:t>Initial release (submission-2026-09-29)</a:t>
                      </a:r>
                    </a:p>
                  </a:txBody>
                  <a:tcPr marL="64008" marR="45720" marT="18288" marB="18288" anchor="t">
                    <a:solidFill>
                      <a:srgbClr val="10233A"/>
                    </a:solidFill>
                  </a:tcPr>
                </a:tc>
                <a:tc>
                  <a:txBody>
                    <a:bodyPr wrap="square"/>
                    <a:lstStyle/>
                    <a:p>
                      <a:pPr>
                        <a:spcAft>
                          <a:spcPts val="0"/>
                        </a:spcAft>
                      </a:pPr>
                      <a:r>
                        <a:rPr sz="1000" b="1">
                          <a:solidFill>
                            <a:srgbClr val="FFFFFF"/>
                          </a:solidFill>
                          <a:latin typeface="Segoe UI"/>
                        </a:rPr>
                        <a:t>Revised version (submission-2026-10-22)</a:t>
                      </a:r>
                    </a:p>
                  </a:txBody>
                  <a:tcPr marL="64008" marR="45720" marT="18288" marB="18288" anchor="t">
                    <a:solidFill>
                      <a:srgbClr val="10233A"/>
                    </a:solidFill>
                  </a:tcPr>
                </a:tc>
              </a:tr>
              <a:tr h="566928">
                <a:tc>
                  <a:txBody>
                    <a:bodyPr wrap="square"/>
                    <a:lstStyle/>
                    <a:p>
                      <a:pPr>
                        <a:spcAft>
                          <a:spcPts val="0"/>
                        </a:spcAft>
                      </a:pPr>
                      <a:r>
                        <a:rPr sz="1000" b="0">
                          <a:solidFill>
                            <a:srgbClr val="535F6B"/>
                          </a:solidFill>
                          <a:latin typeface="Segoe UI"/>
                        </a:rPr>
                        <a:t>Processes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Five independently runnable stages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The five stages plus core-0, which calls them as call activities and gates each on what the previous returned</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Forms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41</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43 — the reschedule and cancellation journeys and the end-to-end start form</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Workers</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Seven</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Eight — the document-receipt worker for the documentation exchange</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Records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Ledgers in the workers' memory, lost on restart</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The hospital's record store (embedded H2), read back and used; DEF-10 closed</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Validation</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Required fields only</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One input-validation policy, applied by a script and enforced by a check: references, NHS numbers, names, bounds, no past dates</a:t>
                      </a:r>
                    </a:p>
                  </a:txBody>
                  <a:tcPr marL="64008" marR="45720" marT="18288" marB="18288" anchor="t">
                    <a:solidFill>
                      <a:srgbClr val="FFFFFF"/>
                    </a:solidFill>
                  </a:tcPr>
                </a:tc>
              </a:tr>
              <a:tr h="566928">
                <a:tc>
                  <a:txBody>
                    <a:bodyPr wrap="square"/>
                    <a:lstStyle/>
                    <a:p>
                      <a:pPr>
                        <a:spcAft>
                          <a:spcPts val="0"/>
                        </a:spcAft>
                      </a:pPr>
                      <a:r>
                        <a:rPr sz="1000" b="0">
                          <a:solidFill>
                            <a:srgbClr val="535F6B"/>
                          </a:solidFill>
                          <a:latin typeface="Segoe UI"/>
                        </a:rPr>
                        <a:t>Gateways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Alternative paths merged at tasks</a:t>
                      </a:r>
                    </a:p>
                  </a:txBody>
                  <a:tcPr marL="64008" marR="45720" marT="18288" marB="18288" anchor="t">
                    <a:solidFill>
                      <a:srgbClr val="F4F7F9"/>
                    </a:solidFill>
                  </a:tcPr>
                </a:tc>
                <a:tc>
                  <a:txBody>
                    <a:bodyPr wrap="square"/>
                    <a:lstStyle/>
                    <a:p>
                      <a:pPr>
                        <a:spcAft>
                          <a:spcPts val="0"/>
                        </a:spcAft>
                      </a:pPr>
                      <a:r>
                        <a:rPr sz="1000" b="0">
                          <a:solidFill>
                            <a:srgbClr val="535F6B"/>
                          </a:solidFill>
                          <a:latin typeface="Segoe UI"/>
                        </a:rPr>
                        <a:t>A named merging gateway at every convergence - none is left at a task</a:t>
                      </a:r>
                    </a:p>
                  </a:txBody>
                  <a:tcPr marL="64008" marR="45720" marT="18288" marB="18288" anchor="t">
                    <a:solidFill>
                      <a:srgbClr val="F4F7F9"/>
                    </a:solidFill>
                  </a:tcPr>
                </a:tc>
              </a:tr>
              <a:tr h="566928">
                <a:tc>
                  <a:txBody>
                    <a:bodyPr wrap="square"/>
                    <a:lstStyle/>
                    <a:p>
                      <a:pPr>
                        <a:spcAft>
                          <a:spcPts val="0"/>
                        </a:spcAft>
                      </a:pPr>
                      <a:r>
                        <a:rPr sz="1000" b="0">
                          <a:solidFill>
                            <a:srgbClr val="535F6B"/>
                          </a:solidFill>
                          <a:latin typeface="Segoe UI"/>
                        </a:rPr>
                        <a:t>Evidence</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Results recorded against the 29 September tree</a:t>
                      </a:r>
                    </a:p>
                  </a:txBody>
                  <a:tcPr marL="64008" marR="45720" marT="18288" marB="18288" anchor="t">
                    <a:solidFill>
                      <a:srgbClr val="FFFFFF"/>
                    </a:solidFill>
                  </a:tcPr>
                </a:tc>
                <a:tc>
                  <a:txBody>
                    <a:bodyPr wrap="square"/>
                    <a:lstStyle/>
                    <a:p>
                      <a:pPr>
                        <a:spcAft>
                          <a:spcPts val="0"/>
                        </a:spcAft>
                      </a:pPr>
                      <a:r>
                        <a:rPr sz="1000" b="0">
                          <a:solidFill>
                            <a:srgbClr val="535F6B"/>
                          </a:solidFill>
                          <a:latin typeface="Segoe UI"/>
                        </a:rPr>
                        <a:t>The suite re-run and the two scenarios that had no result driven at 378b319, 2026-10-15</a:t>
                      </a:r>
                    </a:p>
                  </a:txBody>
                  <a:tcPr marL="64008" marR="45720" marT="18288" marB="18288" anchor="t">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pathway runs as one instance</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models/operational/core-0-patient-pathway-end-to-end.bpmn; tests/test-plan.md TC-24; tests/evidence/workers-and-models_378b319_2026-10-15.txt</a:t>
            </a:r>
          </a:p>
        </p:txBody>
      </p:sp>
      <p:sp>
        <p:nvSpPr>
          <p:cNvPr id="5" name="TextBox 4"/>
          <p:cNvSpPr txBox="1"/>
          <p:nvPr/>
        </p:nvSpPr>
        <p:spPr>
          <a:xfrm>
            <a:off x="566928" y="1005840"/>
            <a:ext cx="11064240" cy="2926080"/>
          </a:xfrm>
          <a:prstGeom prst="rect">
            <a:avLst/>
          </a:prstGeom>
          <a:noFill/>
        </p:spPr>
        <p:txBody>
          <a:bodyPr wrap="square">
            <a:spAutoFit/>
          </a:bodyPr>
          <a:lstStyle/>
          <a:p>
            <a:pPr>
              <a:spcAft>
                <a:spcPts val="700"/>
              </a:spcAft>
            </a:pPr>
            <a:r>
              <a:rPr sz="1200" b="0" i="0">
                <a:solidFill>
                  <a:srgbClr val="535F6B"/>
                </a:solidFill>
                <a:latin typeface="Segoe UI"/>
              </a:rPr>
              <a:t>•  core-0-patient-pathway-end-to-end has no task of its own: five call activities name core-5, core-1, core-2, core-3 and core-4, and each stage is gated on what the previous one returned.</a:t>
            </a:r>
          </a:p>
          <a:p>
            <a:pPr>
              <a:spcAft>
                <a:spcPts val="700"/>
              </a:spcAft>
            </a:pPr>
            <a:r>
              <a:rPr sz="1200" b="0" i="0">
                <a:solidFill>
                  <a:srgbClr val="535F6B"/>
                </a:solidFill>
                <a:latin typeface="Segoe UI"/>
              </a:rPr>
              <a:t>•  The stages still run on their own — each is started from Tasklist under Processes, so a single stage or the whole pathway can be demonstrated.</a:t>
            </a:r>
          </a:p>
          <a:p>
            <a:pPr>
              <a:spcAft>
                <a:spcPts val="700"/>
              </a:spcAft>
            </a:pPr>
            <a:r>
              <a:rPr sz="1200" b="0" i="0">
                <a:solidFill>
                  <a:srgbClr val="535F6B"/>
                </a:solidFill>
                <a:latin typeface="Segoe UI"/>
              </a:rPr>
              <a:t>•  TC-24 drives one instance through all five stage processes and asserts the tree of instances the engine recorded: the documentation exchange, the referral and its appointment, the treatment, the letter and the follow-up, ending at N_CO_PathwayComplete.</a:t>
            </a:r>
          </a:p>
          <a:p>
            <a:pPr>
              <a:spcAft>
                <a:spcPts val="700"/>
              </a:spcAft>
            </a:pPr>
            <a:r>
              <a:rPr sz="1200" b="0" i="0">
                <a:solidFill>
                  <a:srgbClr val="535F6B"/>
                </a:solidFill>
                <a:latin typeface="Segoe UI"/>
              </a:rPr>
              <a:t>•  The bindings check grew two rules with this: a call activity has to name a process in models/operational/, and what a stage returns counts as produced in the process that calls it.</a:t>
            </a:r>
          </a:p>
        </p:txBody>
      </p:sp>
      <p:pic>
        <p:nvPicPr>
          <p:cNvPr id="6" name="Picture 5" descr="core-0-patient-pathway-end-to-end.png"/>
          <p:cNvPicPr>
            <a:picLocks noChangeAspect="1"/>
          </p:cNvPicPr>
          <p:nvPr/>
        </p:nvPicPr>
        <p:blipFill>
          <a:blip r:embed="rId2"/>
          <a:stretch>
            <a:fillRect/>
          </a:stretch>
        </p:blipFill>
        <p:spPr>
          <a:xfrm>
            <a:off x="685800" y="3886200"/>
            <a:ext cx="10789920" cy="239985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hospital's own records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workers/src/main/java/…/db/Database.java; workers/README.md; tests/test-plan.md TC-25; tests/evidence/workers-and-models_378b319_2026-10-15.txt</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1000"/>
              </a:spcAft>
            </a:pPr>
            <a:r>
              <a:rPr sz="1220" b="0" i="0">
                <a:solidFill>
                  <a:srgbClr val="535F6B"/>
                </a:solidFill>
                <a:latin typeface="Segoe UI"/>
              </a:rPr>
              <a:t>•  Every ledger moved out of the workers' memory into an embedded H2 store — the same database engine Camunda 8 Run keeps its data in: patients, referrals, appointments, payments, refunds, dispatches, information requests, reference sequence.</a:t>
            </a:r>
          </a:p>
          <a:p>
            <a:pPr>
              <a:spcAft>
                <a:spcPts val="1000"/>
              </a:spcAft>
            </a:pPr>
            <a:r>
              <a:rPr sz="1220" b="0" i="0">
                <a:solidFill>
                  <a:srgbClr val="535F6B"/>
                </a:solidFill>
                <a:latin typeface="Segoe UI"/>
              </a:rPr>
              <a:t>•  A settled payment is still a duplicate after the store is closed and reopened — the test closes it and reopens it, which a memory ledger could never show (PersistenceTest; DEF-10 closed for the part that was a defect).</a:t>
            </a:r>
          </a:p>
          <a:p>
            <a:pPr>
              <a:spcAft>
                <a:spcPts val="1000"/>
              </a:spcAft>
            </a:pPr>
            <a:r>
              <a:rPr sz="1220" b="0" i="0">
                <a:solidFill>
                  <a:srgbClr val="535F6B"/>
                </a:solidFill>
                <a:latin typeface="Segoe UI"/>
              </a:rPr>
              <a:t>•  The register is read as well as written: a letter that names no channel is sent on the patient's recorded preference; a rebooking marks the appointment it replaces superseded; a reply updates the recorded information request.</a:t>
            </a:r>
          </a:p>
          <a:p>
            <a:pPr>
              <a:spcAft>
                <a:spcPts val="1000"/>
              </a:spcAft>
            </a:pPr>
            <a:r>
              <a:rPr sz="1220" b="0" i="0">
                <a:solidFill>
                  <a:srgbClr val="535F6B"/>
                </a:solidFill>
                <a:latin typeface="Segoe UI"/>
              </a:rPr>
              <a:t>•  Identity is enforced by the worker: an NHS number is ten digits and is the key the register is looked up by; a name that disagrees with the record is reported, not written over; one NHS number under a second hospital identifier is a conflict.</a:t>
            </a:r>
          </a:p>
          <a:p>
            <a:pPr>
              <a:spcAft>
                <a:spcPts val="1000"/>
              </a:spcAft>
            </a:pPr>
            <a:r>
              <a:rPr sz="1220" b="0" i="0">
                <a:solidFill>
                  <a:srgbClr val="535F6B"/>
                </a:solidFill>
                <a:latin typeface="Segoe UI"/>
              </a:rPr>
              <a:t>•  The store is runtime state, not delivered content — workers/data/ is ignored by git, and mvn compile exec:java -Dexec.args="--show-records" prints what it holds.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forms, and what checking them found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forms/README.md; tools/apply_form_validation.py; tools/check_forms_formjs.mjs; docs/agile/form-field-burden.md</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80" b="0" i="0">
                <a:solidFill>
                  <a:srgbClr val="535F6B"/>
                </a:solidFill>
                <a:latin typeface="Segoe UI"/>
              </a:rPr>
              <a:t>•  One validation policy, not 43 opinions: a reference has to look like one, an NHS number is ten digits, a field that names a person or a team has to contain a letter, numbers have bounds, and the dates that are future commitments cannot be picked in the past. apply_form_validation.py applies it; the bindings check fails if a form drifts.</a:t>
            </a:r>
          </a:p>
          <a:p>
            <a:pPr>
              <a:spcAft>
                <a:spcPts val="800"/>
              </a:spcAft>
            </a:pPr>
            <a:r>
              <a:rPr sz="1180" b="0" i="0">
                <a:solidFill>
                  <a:srgbClr val="535F6B"/>
                </a:solidFill>
                <a:latin typeface="Segoe UI"/>
              </a:rPr>
              <a:t>•  Three faults that no run could catch, found by checking: a date field of a type that does not exist — it rejected whole forms; 26 selects that kept their choices where the library does not read them, so the picker was empty; groups that nested every field key.</a:t>
            </a:r>
          </a:p>
          <a:p>
            <a:pPr>
              <a:spcAft>
                <a:spcPts val="800"/>
              </a:spcAft>
            </a:pPr>
            <a:r>
              <a:rPr sz="1180" b="0" i="0">
                <a:solidFill>
                  <a:srgbClr val="535F6B"/>
                </a:solidFill>
                <a:latin typeface="Segoe UI"/>
              </a:rPr>
              <a:t>•  New journeys with their own ends: reschedule_requested records the change and books again, marking the old appointment superseded (TC-23); declined_by_patient and cancelled_by_hospital end at the appointment-cancelled event, not at a confirmation (TC-22).</a:t>
            </a:r>
          </a:p>
          <a:p>
            <a:pPr>
              <a:spcAft>
                <a:spcPts val="800"/>
              </a:spcAft>
            </a:pPr>
            <a:r>
              <a:rPr sz="1180" b="0" i="0">
                <a:solidFill>
                  <a:srgbClr val="535F6B"/>
                </a:solidFill>
                <a:latin typeface="Segoe UI"/>
              </a:rPr>
              <a:t>•  @bpmn-io/form-js — the library Tasklist renders with — imports every form and runs each field through its own validator in a check, in CI-style: an import error is a task that renders no form at all.</a:t>
            </a:r>
          </a:p>
          <a:p>
            <a:pPr>
              <a:spcAft>
                <a:spcPts val="800"/>
              </a:spcAft>
            </a:pPr>
            <a:r>
              <a:rPr sz="1180" b="0" i="0">
                <a:solidFill>
                  <a:srgbClr val="535F6B"/>
                </a:solidFill>
                <a:latin typeface="Segoe UI"/>
              </a:rPr>
              <a:t>•  The review of the recording burden: 43 forms, 293 leaf fields; the clinical lanes ask 8.1 fields per task on average — counted from the artefacts, with the three findings that ask for a decision recorded with owners (NFR-009, NFR-011).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Further development: the models corrected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models/operational/; tools/verify_hprtas_bpmn_bindings.py; tools/verify_hprtas_bpmn_layout.py; tests/test-plan.md section 6</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60" b="0" i="0">
                <a:solidFill>
                  <a:srgbClr val="535F6B"/>
                </a:solidFill>
                <a:latin typeface="Segoe UI"/>
              </a:rPr>
              <a:t>•  Merging gateways, named for the convergence they represent — N_OB_MergeContactPath, N_F_MergeRefundRequest, the N_MS_Merge set and the rest — at every convergence. The two the first edition left at a task, the payment-error repair paths and the escalation paths, now merge through N_F_MergePaymentCorrection and N_AM_MergeEscalation.</a:t>
            </a:r>
          </a:p>
          <a:p>
            <a:pPr>
              <a:spcAft>
                <a:spcPts val="800"/>
              </a:spcAft>
            </a:pPr>
            <a:r>
              <a:rPr sz="1160" b="0" i="0">
                <a:solidFill>
                  <a:srgbClr val="535F6B"/>
                </a:solidFill>
                <a:latin typeface="Segoe UI"/>
              </a:rPr>
              <a:t>•  Three drawing faults fixed: labels were written over the decision diamonds. The layout now prefers the routing that keeps lines off the boxes, and the layout check passes on all eight models; the crossings that remain are the ones the process leaves no other way round.</a:t>
            </a:r>
          </a:p>
          <a:p>
            <a:pPr>
              <a:spcAft>
                <a:spcPts val="800"/>
              </a:spcAft>
            </a:pPr>
            <a:r>
              <a:rPr sz="1160" b="0" i="0">
                <a:solidFill>
                  <a:srgbClr val="535F6B"/>
                </a:solidFill>
                <a:latin typeface="Segoe UI"/>
              </a:rPr>
              <a:t>•  DEF-11 closed: an urgent referral with no suitable slot escalates out of the booking process instead of looping for ever — driven on the engine, the availability check is reached once and the instance completes (scenario 8).</a:t>
            </a:r>
          </a:p>
          <a:p>
            <a:pPr>
              <a:spcAft>
                <a:spcPts val="800"/>
              </a:spcAft>
            </a:pPr>
            <a:r>
              <a:rPr sz="1160" b="0" i="0">
                <a:solidFill>
                  <a:srgbClr val="535F6B"/>
                </a:solidFill>
                <a:latin typeface="Segoe UI"/>
              </a:rPr>
              <a:t>•  DEF-15 closed: an empty optional list is not a problem; an empty required one still is. Found by driving the reschedule, whose whole point is a second attempt.</a:t>
            </a:r>
          </a:p>
          <a:p>
            <a:pPr>
              <a:spcAft>
                <a:spcPts val="800"/>
              </a:spcAft>
            </a:pPr>
            <a:r>
              <a:rPr sz="1160" b="0" i="0">
                <a:solidFill>
                  <a:srgbClr val="535F6B"/>
                </a:solidFill>
                <a:latin typeface="Segoe UI"/>
              </a:rPr>
              <a:t>•  Still open and recorded, not hidden: no user is authenticated (DEF-07) or has submitted a form (DEF-08); the separation of duties stays structural, and every document says 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(1 of 2): the four points that recurred</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 every one of the 21 sheets is accounted for there, point by point</a:t>
            </a:r>
          </a:p>
        </p:txBody>
      </p:sp>
      <p:graphicFrame>
        <p:nvGraphicFramePr>
          <p:cNvPr id="5" name="Table 4"/>
          <p:cNvGraphicFramePr>
            <a:graphicFrameLocks noGrp="1"/>
          </p:cNvGraphicFramePr>
          <p:nvPr/>
        </p:nvGraphicFramePr>
        <p:xfrm>
          <a:off x="566928" y="1024128"/>
          <a:ext cx="11064240" cy="4343400"/>
        </p:xfrm>
        <a:graphic>
          <a:graphicData uri="http://schemas.openxmlformats.org/drawingml/2006/table">
            <a:tbl>
              <a:tblPr>
                <a:tableStyleId>{5C22544A-7EE6-4342-B048-85BDC9FD1C3A}</a:tableStyleId>
              </a:tblPr>
              <a:tblGrid>
                <a:gridCol w="2874960"/>
                <a:gridCol w="3049200"/>
                <a:gridCol w="2178000"/>
                <a:gridCol w="2962080"/>
              </a:tblGrid>
              <a:tr h="868680">
                <a:tc>
                  <a:txBody>
                    <a:bodyPr wrap="square"/>
                    <a:lstStyle/>
                    <a:p>
                      <a:pPr>
                        <a:spcAft>
                          <a:spcPts val="0"/>
                        </a:spcAft>
                      </a:pPr>
                      <a:r>
                        <a:rPr sz="950" b="1">
                          <a:solidFill>
                            <a:srgbClr val="FFFFFF"/>
                          </a:solidFill>
                          <a:latin typeface="Segoe UI"/>
                        </a:rPr>
                        <a:t>Point (sheets that raised it)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Decision and action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Evidence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Outcome</a:t>
                      </a:r>
                    </a:p>
                  </a:txBody>
                  <a:tcPr marL="64008" marR="45720" marT="18288" marB="18288" anchor="t">
                    <a:solidFill>
                      <a:srgbClr val="10233A"/>
                    </a:solidFill>
                  </a:tcPr>
                </a:tc>
              </a:tr>
              <a:tr h="868680">
                <a:tc>
                  <a:txBody>
                    <a:bodyPr wrap="square"/>
                    <a:lstStyle/>
                    <a:p>
                      <a:pPr>
                        <a:spcAft>
                          <a:spcPts val="0"/>
                        </a:spcAft>
                      </a:pPr>
                      <a:r>
                        <a:rPr sz="900" b="0">
                          <a:solidFill>
                            <a:srgbClr val="535F6B"/>
                          </a:solidFill>
                          <a:latin typeface="Segoe UI"/>
                        </a:rPr>
                        <a:t>The hospital's records — a database, persistence, records used (11)</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An embedded H2 store instead of memory; every ledger moved</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Database.java; PersistenceTest; TC-25</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Duplicates survive a restart; records are read back and used</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Role-based access — roles, assignment, control of tasks and data (13)</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The assignment half: every task carries its lane's candidate group, and the check fails without one; enforcement recorded as not implemented, not claimed</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verify_hprtas_bpmn_bindings.py; FR-045; DEF-07</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No task unassigned, and it is said plainly that the lanes are not access control</a:t>
                      </a:r>
                    </a:p>
                  </a:txBody>
                  <a:tcPr marL="64008" marR="45720" marT="18288" marB="18288" anchor="t">
                    <a:solidFill>
                      <a:srgbClr val="F4F7F9"/>
                    </a:solidFill>
                  </a:tcPr>
                </a:tc>
              </a:tr>
              <a:tr h="868680">
                <a:tc>
                  <a:txBody>
                    <a:bodyPr wrap="square"/>
                    <a:lstStyle/>
                    <a:p>
                      <a:pPr>
                        <a:spcAft>
                          <a:spcPts val="0"/>
                        </a:spcAft>
                      </a:pPr>
                      <a:r>
                        <a:rPr sz="900" b="0">
                          <a:solidFill>
                            <a:srgbClr val="535F6B"/>
                          </a:solidFill>
                          <a:latin typeface="Segoe UI"/>
                        </a:rPr>
                        <a:t>Form validation — required fields, formats, rules, names that are not numbers (15)</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One policy, applied by script and enforced by the bindings check</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forms/README.md; check_forms_formjs.mjs</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A field cannot lose its rule quietly; cross-field rules are stated and refused by the worker</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Merging gateways where alternative paths come together (12)</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Every convergence is a named merging gateway - none left at a task</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models/operational/; the layout check</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A reader sees where paths join, and the check keeps it true</a:t>
                      </a:r>
                    </a:p>
                  </a:txBody>
                  <a:tcPr marL="64008" marR="45720" marT="18288" marB="18288" anchor="t">
                    <a:solidFill>
                      <a:srgbClr val="F4F7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(2 of 2): the rest, and the weights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forms/README.md; docs/justification-of-decisions.md</a:t>
            </a:r>
          </a:p>
        </p:txBody>
      </p:sp>
      <p:graphicFrame>
        <p:nvGraphicFramePr>
          <p:cNvPr id="5" name="Table 4"/>
          <p:cNvGraphicFramePr>
            <a:graphicFrameLocks noGrp="1"/>
          </p:cNvGraphicFramePr>
          <p:nvPr/>
        </p:nvGraphicFramePr>
        <p:xfrm>
          <a:off x="566928" y="1024128"/>
          <a:ext cx="11064240" cy="5102352"/>
        </p:xfrm>
        <a:graphic>
          <a:graphicData uri="http://schemas.openxmlformats.org/drawingml/2006/table">
            <a:tbl>
              <a:tblPr>
                <a:tableStyleId>{5C22544A-7EE6-4342-B048-85BDC9FD1C3A}</a:tableStyleId>
              </a:tblPr>
              <a:tblGrid>
                <a:gridCol w="2834640"/>
                <a:gridCol w="5486400"/>
                <a:gridCol w="2743200"/>
              </a:tblGrid>
              <a:tr h="566928">
                <a:tc>
                  <a:txBody>
                    <a:bodyPr wrap="square"/>
                    <a:lstStyle/>
                    <a:p>
                      <a:pPr>
                        <a:spcAft>
                          <a:spcPts val="0"/>
                        </a:spcAft>
                      </a:pPr>
                      <a:r>
                        <a:rPr sz="900" b="1">
                          <a:solidFill>
                            <a:srgbClr val="FFFFFF"/>
                          </a:solidFill>
                          <a:latin typeface="Segoe UI"/>
                        </a:rPr>
                        <a:t>Point (sheets)</a:t>
                      </a:r>
                    </a:p>
                  </a:txBody>
                  <a:tcPr marL="64008" marR="45720" marT="18288" marB="18288" anchor="t">
                    <a:solidFill>
                      <a:srgbClr val="10233A"/>
                    </a:solidFill>
                  </a:tcPr>
                </a:tc>
                <a:tc>
                  <a:txBody>
                    <a:bodyPr wrap="square"/>
                    <a:lstStyle/>
                    <a:p>
                      <a:pPr>
                        <a:spcAft>
                          <a:spcPts val="0"/>
                        </a:spcAft>
                      </a:pPr>
                      <a:r>
                        <a:rPr sz="900" b="1">
                          <a:solidFill>
                            <a:srgbClr val="FFFFFF"/>
                          </a:solidFill>
                          <a:latin typeface="Segoe UI"/>
                        </a:rPr>
                        <a:t>Answer</a:t>
                      </a:r>
                    </a:p>
                  </a:txBody>
                  <a:tcPr marL="64008" marR="45720" marT="18288" marB="18288" anchor="t">
                    <a:solidFill>
                      <a:srgbClr val="10233A"/>
                    </a:solidFill>
                  </a:tcPr>
                </a:tc>
                <a:tc>
                  <a:txBody>
                    <a:bodyPr wrap="square"/>
                    <a:lstStyle/>
                    <a:p>
                      <a:pPr>
                        <a:spcAft>
                          <a:spcPts val="0"/>
                        </a:spcAft>
                      </a:pPr>
                      <a:r>
                        <a:rPr sz="900" b="1">
                          <a:solidFill>
                            <a:srgbClr val="FFFFFF"/>
                          </a:solidFill>
                          <a:latin typeface="Segoe UI"/>
                        </a:rPr>
                        <a:t>Evidence</a:t>
                      </a:r>
                    </a:p>
                  </a:txBody>
                  <a:tcPr marL="64008" marR="45720" marT="18288" marB="18288" anchor="t">
                    <a:solidFill>
                      <a:srgbClr val="10233A"/>
                    </a:solidFill>
                  </a:tcPr>
                </a:tc>
              </a:tr>
              <a:tr h="566928">
                <a:tc>
                  <a:txBody>
                    <a:bodyPr wrap="square"/>
                    <a:lstStyle/>
                    <a:p>
                      <a:pPr>
                        <a:spcAft>
                          <a:spcPts val="0"/>
                        </a:spcAft>
                      </a:pPr>
                      <a:r>
                        <a:rPr sz="850" b="0">
                          <a:solidFill>
                            <a:srgbClr val="535F6B"/>
                          </a:solidFill>
                          <a:latin typeface="Segoe UI"/>
                        </a:rPr>
                        <a:t>Data types in forms (4)</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Dates are the datetime field's date subtype; selects carry their choices in values; numbers are number fields</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forms/README.md</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The model must represent the business process (4)</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pass's corrections, and four new check rules — a call activity names a process, a stage's output counts as produced, every task carries a candidate group, every reference and name carries its pattern</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pass's static-check record</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Test plan and measurable criteria (3)</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Criteria linked to requirements and business rules; scenarios with preconditions, data, actions, expected outcome, pass/fail; 25 of 25 now have a result</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tests/test-plan.md sections 3–5</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Task types, particularly sending messages (3)</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22 named message flows carry what crosses a pool boundary; the automated side is a worker against a service task, so no send task duplicates it</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docs/justification-of-decisions.md section 5</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Options that have journeys (3)</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Reschedule, cancellation outcomes, the end-to-end start form, the documentation exchange, the enquiry routing</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TC-20, TC-22, TC-23, TC-24</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Remove fields or steps (2)</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The burden review measured before changing anything: 293 leaf fields, clinical lanes 8.1 per task; the three decisions it asks for are recorded with owners</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docs/agile/form-field-burden.md</a:t>
                      </a:r>
                    </a:p>
                  </a:txBody>
                  <a:tcPr marL="64008" marR="45720" marT="18288" marB="18288" anchor="t">
                    <a:solidFill>
                      <a:srgbClr val="F4F7F9"/>
                    </a:solidFill>
                  </a:tcPr>
                </a:tc>
              </a:tr>
              <a:tr h="566928">
                <a:tc>
                  <a:txBody>
                    <a:bodyPr wrap="square"/>
                    <a:lstStyle/>
                    <a:p>
                      <a:pPr>
                        <a:spcAft>
                          <a:spcPts val="0"/>
                        </a:spcAft>
                      </a:pPr>
                      <a:r>
                        <a:rPr sz="850" b="0">
                          <a:solidFill>
                            <a:srgbClr val="535F6B"/>
                          </a:solidFill>
                          <a:latin typeface="Segoe UI"/>
                        </a:rPr>
                        <a:t>Dates that cannot be in the past (2)</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disallowPassedDates on the treatment start date, the rescheduled date and an alternative offered</a:t>
                      </a:r>
                    </a:p>
                  </a:txBody>
                  <a:tcPr marL="64008" marR="45720" marT="18288" marB="18288" anchor="t">
                    <a:solidFill>
                      <a:srgbClr val="FFFFFF"/>
                    </a:solidFill>
                  </a:tcPr>
                </a:tc>
                <a:tc>
                  <a:txBody>
                    <a:bodyPr wrap="square"/>
                    <a:lstStyle/>
                    <a:p>
                      <a:pPr>
                        <a:spcAft>
                          <a:spcPts val="0"/>
                        </a:spcAft>
                      </a:pPr>
                      <a:r>
                        <a:rPr sz="850" b="0">
                          <a:solidFill>
                            <a:srgbClr val="535F6B"/>
                          </a:solidFill>
                          <a:latin typeface="Segoe UI"/>
                        </a:rPr>
                        <a:t>forms/README.md</a:t>
                      </a:r>
                    </a:p>
                  </a:txBody>
                  <a:tcPr marL="64008" marR="45720" marT="18288" marB="18288" anchor="t">
                    <a:solidFill>
                      <a:srgbClr val="FFFFFF"/>
                    </a:solidFill>
                  </a:tcPr>
                </a:tc>
              </a:tr>
              <a:tr h="566928">
                <a:tc>
                  <a:txBody>
                    <a:bodyPr wrap="square"/>
                    <a:lstStyle/>
                    <a:p>
                      <a:pPr>
                        <a:spcAft>
                          <a:spcPts val="0"/>
                        </a:spcAft>
                      </a:pPr>
                      <a:r>
                        <a:rPr sz="850" b="0">
                          <a:solidFill>
                            <a:srgbClr val="535F6B"/>
                          </a:solidFill>
                          <a:latin typeface="Segoe UI"/>
                        </a:rPr>
                        <a:t>Integration (1); NHS identification (1); business logic in workers (1); understanding the system (2)</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core-0; ten-digit NHS lookup with conflicts reported; eight workers with the rules enforced where the service is called; the demonstration script as the walkthrough</a:t>
                      </a:r>
                    </a:p>
                  </a:txBody>
                  <a:tcPr marL="64008" marR="45720" marT="18288" marB="18288" anchor="t">
                    <a:solidFill>
                      <a:srgbClr val="F4F7F9"/>
                    </a:solidFill>
                  </a:tcPr>
                </a:tc>
                <a:tc>
                  <a:txBody>
                    <a:bodyPr wrap="square"/>
                    <a:lstStyle/>
                    <a:p>
                      <a:pPr>
                        <a:spcAft>
                          <a:spcPts val="0"/>
                        </a:spcAft>
                      </a:pPr>
                      <a:r>
                        <a:rPr sz="850" b="0">
                          <a:solidFill>
                            <a:srgbClr val="535F6B"/>
                          </a:solidFill>
                          <a:latin typeface="Segoe UI"/>
                        </a:rPr>
                        <a:t>TC-24, TC-25, workers/README.md, docs/agile/demonstration-script.md</a:t>
                      </a:r>
                    </a:p>
                  </a:txBody>
                  <a:tcPr marL="64008" marR="45720" marT="18288" marB="18288" anchor="t">
                    <a:solidFill>
                      <a:srgbClr val="F4F7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Response to feedback: what is not done, and why</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docs/agile/response-to-feedback.md, section 'Outstanding, and why'; tests/test-plan.md section 6</a:t>
            </a:r>
          </a:p>
        </p:txBody>
      </p:sp>
      <p:graphicFrame>
        <p:nvGraphicFramePr>
          <p:cNvPr id="5" name="Table 4"/>
          <p:cNvGraphicFramePr>
            <a:graphicFrameLocks noGrp="1"/>
          </p:cNvGraphicFramePr>
          <p:nvPr/>
        </p:nvGraphicFramePr>
        <p:xfrm>
          <a:off x="566928" y="1024128"/>
          <a:ext cx="11064240" cy="4572000"/>
        </p:xfrm>
        <a:graphic>
          <a:graphicData uri="http://schemas.openxmlformats.org/drawingml/2006/table">
            <a:tbl>
              <a:tblPr>
                <a:tableStyleId>{5C22544A-7EE6-4342-B048-85BDC9FD1C3A}</a:tableStyleId>
              </a:tblPr>
              <a:tblGrid>
                <a:gridCol w="3291840"/>
                <a:gridCol w="5669280"/>
                <a:gridCol w="2103120"/>
              </a:tblGrid>
              <a:tr h="914400">
                <a:tc>
                  <a:txBody>
                    <a:bodyPr wrap="square"/>
                    <a:lstStyle/>
                    <a:p>
                      <a:pPr>
                        <a:spcAft>
                          <a:spcPts val="0"/>
                        </a:spcAft>
                      </a:pPr>
                      <a:r>
                        <a:rPr sz="950" b="1">
                          <a:solidFill>
                            <a:srgbClr val="FFFFFF"/>
                          </a:solidFill>
                          <a:latin typeface="Segoe UI"/>
                        </a:rPr>
                        <a:t>Point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Why it is not done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Where it is recorded</a:t>
                      </a:r>
                    </a:p>
                  </a:txBody>
                  <a:tcPr marL="64008" marR="45720" marT="18288" marB="18288" anchor="t">
                    <a:solidFill>
                      <a:srgbClr val="10233A"/>
                    </a:solidFill>
                  </a:tcPr>
                </a:tc>
              </a:tr>
              <a:tr h="914400">
                <a:tc>
                  <a:txBody>
                    <a:bodyPr wrap="square"/>
                    <a:lstStyle/>
                    <a:p>
                      <a:pPr>
                        <a:spcAft>
                          <a:spcPts val="0"/>
                        </a:spcAft>
                      </a:pPr>
                      <a:r>
                        <a:rPr sz="950" b="0">
                          <a:solidFill>
                            <a:srgbClr val="535F6B"/>
                          </a:solidFill>
                          <a:latin typeface="Segoe UI"/>
                        </a:rPr>
                        <a:t>Enforcement of the roles (the most frequent point — 13 sheets)</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Assignment is done and checked; enforcement needs an identity provider and authorisations, which this prototype has none of. The separation of duties is structural, and every document says so rather than implying it is enforced</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DEF-07; evaluation section 3</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A form submitted by a signed-in user</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No user is authenticated on the local engine. Every result was driven through the API with the variables a validated form would supply, and each record states that limit</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DEF-08</a:t>
                      </a:r>
                    </a:p>
                  </a:txBody>
                  <a:tcPr marL="64008" marR="45720" marT="18288" marB="18288" anchor="t">
                    <a:solidFill>
                      <a:srgbClr val="F4F7F9"/>
                    </a:solidFill>
                  </a:tcPr>
                </a:tc>
              </a:tr>
              <a:tr h="914400">
                <a:tc>
                  <a:txBody>
                    <a:bodyPr wrap="square"/>
                    <a:lstStyle/>
                    <a:p>
                      <a:pPr>
                        <a:spcAft>
                          <a:spcPts val="0"/>
                        </a:spcAft>
                      </a:pPr>
                      <a:r>
                        <a:rPr sz="950" b="0">
                          <a:solidFill>
                            <a:srgbClr val="535F6B"/>
                          </a:solidFill>
                          <a:latin typeface="Segoe UI"/>
                        </a:rPr>
                        <a:t>Dropping fields from referral-review; a translation option in the channel list; a screen-reader pass</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Each changes a variable contract or needs a deployed Tasklist with a user. Proposed with owners rather than done silently</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docs/agile/form-field-burden.md</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GP registry validation; multi-instance cardinality; a GP-side rejection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Decisions not to adopt, each with its reason: there is no primary-care registry in the case, no user task iterates a collection, and the case gives the clinical decision to the hospital</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docs/agile/response-to-feedback.md</a:t>
                      </a:r>
                    </a:p>
                  </a:txBody>
                  <a:tcPr marL="64008" marR="45720" marT="18288" marB="18288" anchor="t">
                    <a:solidFill>
                      <a:srgbClr val="F4F7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Project plan evaluation: planned against actual</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docs/planning/project-plan.md section 6; docs/planning/plan-evaluation.md section 5</a:t>
            </a:r>
          </a:p>
        </p:txBody>
      </p:sp>
      <p:graphicFrame>
        <p:nvGraphicFramePr>
          <p:cNvPr id="5" name="Table 4"/>
          <p:cNvGraphicFramePr>
            <a:graphicFrameLocks noGrp="1"/>
          </p:cNvGraphicFramePr>
          <p:nvPr/>
        </p:nvGraphicFramePr>
        <p:xfrm>
          <a:off x="566928" y="1024128"/>
          <a:ext cx="11064240" cy="4572000"/>
        </p:xfrm>
        <a:graphic>
          <a:graphicData uri="http://schemas.openxmlformats.org/drawingml/2006/table">
            <a:tbl>
              <a:tblPr>
                <a:tableStyleId>{5C22544A-7EE6-4342-B048-85BDC9FD1C3A}</a:tableStyleId>
              </a:tblPr>
              <a:tblGrid>
                <a:gridCol w="1371600"/>
                <a:gridCol w="3108960"/>
                <a:gridCol w="4206240"/>
                <a:gridCol w="2377440"/>
              </a:tblGrid>
              <a:tr h="914400">
                <a:tc>
                  <a:txBody>
                    <a:bodyPr wrap="square"/>
                    <a:lstStyle/>
                    <a:p>
                      <a:pPr>
                        <a:spcAft>
                          <a:spcPts val="0"/>
                        </a:spcAft>
                      </a:pPr>
                      <a:r>
                        <a:rPr sz="950" b="1">
                          <a:solidFill>
                            <a:srgbClr val="FFFFFF"/>
                          </a:solidFill>
                          <a:latin typeface="Segoe UI"/>
                        </a:rPr>
                        <a:t>Sprint</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The goal as planned</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What actually happened</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Verdict</a:t>
                      </a:r>
                    </a:p>
                  </a:txBody>
                  <a:tcPr marL="64008" marR="45720" marT="18288" marB="18288" anchor="t">
                    <a:solidFill>
                      <a:srgbClr val="10233A"/>
                    </a:solidFill>
                  </a:tcPr>
                </a:tc>
              </a:tr>
              <a:tr h="914400">
                <a:tc>
                  <a:txBody>
                    <a:bodyPr wrap="square"/>
                    <a:lstStyle/>
                    <a:p>
                      <a:pPr>
                        <a:spcAft>
                          <a:spcPts val="0"/>
                        </a:spcAft>
                      </a:pPr>
                      <a:r>
                        <a:rPr sz="950" b="0">
                          <a:solidFill>
                            <a:srgbClr val="535F6B"/>
                          </a:solidFill>
                          <a:latin typeface="Segoe UI"/>
                        </a:rPr>
                        <a:t>1 — 15–20 Sep</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One deployable model, the acceptance gate, the plan and backlog agreed</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Four core-N models, six workers early; the backlog, estimates and contribution tables never filled in</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Delivery exceeded; the plan process missed</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2 — 21–27 Sep</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The integrated increment: models, workers and forms end to end</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Delivered at a7f0dd6; every service task reached; ten criteria and 21 scenarios defined ahead of plan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Ahead of plan</a:t>
                      </a:r>
                    </a:p>
                  </a:txBody>
                  <a:tcPr marL="64008" marR="45720" marT="18288" marB="18288" anchor="t">
                    <a:solidFill>
                      <a:srgbClr val="F4F7F9"/>
                    </a:solidFill>
                  </a:tcPr>
                </a:tc>
              </a:tr>
              <a:tr h="914400">
                <a:tc>
                  <a:txBody>
                    <a:bodyPr wrap="square"/>
                    <a:lstStyle/>
                    <a:p>
                      <a:pPr>
                        <a:spcAft>
                          <a:spcPts val="0"/>
                        </a:spcAft>
                      </a:pPr>
                      <a:r>
                        <a:rPr sz="950" b="0">
                          <a:solidFill>
                            <a:srgbClr val="535F6B"/>
                          </a:solidFill>
                          <a:latin typeface="Segoe UI"/>
                        </a:rPr>
                        <a:t>3 — 28 Sep–15 Oct</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The i* models and the strategic BPMN, the defects closed, the review's feedback folded in</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i* models built, checked and exported; DEF-10, DEF-11, DEF-12 and DEF-15 closed; the feedback pass; two scenarios still unrun inside the sprint</a:t>
                      </a:r>
                    </a:p>
                  </a:txBody>
                  <a:tcPr marL="64008" marR="45720" marT="18288" marB="18288" anchor="t">
                    <a:solidFill>
                      <a:srgbClr val="FFFFFF"/>
                    </a:solidFill>
                  </a:tcPr>
                </a:tc>
                <a:tc>
                  <a:txBody>
                    <a:bodyPr wrap="square"/>
                    <a:lstStyle/>
                    <a:p>
                      <a:pPr>
                        <a:spcAft>
                          <a:spcPts val="0"/>
                        </a:spcAft>
                      </a:pPr>
                      <a:r>
                        <a:rPr sz="950" b="0">
                          <a:solidFill>
                            <a:srgbClr val="535F6B"/>
                          </a:solidFill>
                          <a:latin typeface="Segoe UI"/>
                        </a:rPr>
                        <a:t>Met, and exceeded; the two closed at the boundary</a:t>
                      </a:r>
                    </a:p>
                  </a:txBody>
                  <a:tcPr marL="64008" marR="45720" marT="18288" marB="18288" anchor="t">
                    <a:solidFill>
                      <a:srgbClr val="FFFFFF"/>
                    </a:solidFill>
                  </a:tcPr>
                </a:tc>
              </a:tr>
              <a:tr h="914400">
                <a:tc>
                  <a:txBody>
                    <a:bodyPr wrap="square"/>
                    <a:lstStyle/>
                    <a:p>
                      <a:pPr>
                        <a:spcAft>
                          <a:spcPts val="0"/>
                        </a:spcAft>
                      </a:pPr>
                      <a:r>
                        <a:rPr sz="950" b="0">
                          <a:solidFill>
                            <a:srgbClr val="535F6B"/>
                          </a:solidFill>
                          <a:latin typeface="Segoe UI"/>
                        </a:rPr>
                        <a:t>4 — 16–21 Oct</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Validate the revised version; the three evaluations; the demonstration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Suite re-run at 378b319 (52 + 14 tests, 0 failures); TC-13 and TC-16 driven; the criteria, plan and requirements evaluations written</a:t>
                      </a:r>
                    </a:p>
                  </a:txBody>
                  <a:tcPr marL="64008" marR="45720" marT="18288" marB="18288" anchor="t">
                    <a:solidFill>
                      <a:srgbClr val="F4F7F9"/>
                    </a:solidFill>
                  </a:tcPr>
                </a:tc>
                <a:tc>
                  <a:txBody>
                    <a:bodyPr wrap="square"/>
                    <a:lstStyle/>
                    <a:p>
                      <a:pPr>
                        <a:spcAft>
                          <a:spcPts val="0"/>
                        </a:spcAft>
                      </a:pPr>
                      <a:r>
                        <a:rPr sz="950" b="0">
                          <a:solidFill>
                            <a:srgbClr val="535F6B"/>
                          </a:solidFill>
                          <a:latin typeface="Segoe UI"/>
                        </a:rPr>
                        <a:t>On plan; the demonstration is the open row</a:t>
                      </a:r>
                    </a:p>
                  </a:txBody>
                  <a:tcPr marL="64008" marR="45720" marT="18288" marB="18288" anchor="t">
                    <a:solidFill>
                      <a:srgbClr val="F4F7F9"/>
                    </a:solidFill>
                  </a:tcPr>
                </a:tc>
              </a:tr>
            </a:tbl>
          </a:graphicData>
        </a:graphic>
      </p:graphicFrame>
      <p:sp>
        <p:nvSpPr>
          <p:cNvPr id="6" name="TextBox 5"/>
          <p:cNvSpPr txBox="1"/>
          <p:nvPr/>
        </p:nvSpPr>
        <p:spPr>
          <a:xfrm>
            <a:off x="566928" y="5742432"/>
            <a:ext cx="11064240" cy="822960"/>
          </a:xfrm>
          <a:prstGeom prst="rect">
            <a:avLst/>
          </a:prstGeom>
          <a:noFill/>
        </p:spPr>
        <p:txBody>
          <a:bodyPr wrap="square">
            <a:spAutoFit/>
          </a:bodyPr>
          <a:lstStyle/>
          <a:p>
            <a:pPr>
              <a:spcAft>
                <a:spcPts val="0"/>
              </a:spcAft>
            </a:pPr>
            <a:r>
              <a:rPr sz="1050" b="0" i="0">
                <a:solidFill>
                  <a:srgbClr val="535F6B"/>
                </a:solidFill>
                <a:latin typeface="Segoe UI"/>
              </a:rPr>
              <a:t>Estimates: three sprints carry "not assessable" — no estimate was ever agreed, and back-filling them now would corrupt the velocity figure rather than produce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Project plan evaluation: where the plan was wrong</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docs/planning/plan-evaluation.md section 5.4; docs/planning/project-plan.md section 7</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1100"/>
              </a:spcAft>
            </a:pPr>
            <a:r>
              <a:rPr sz="1200" b="0" i="0">
                <a:solidFill>
                  <a:srgbClr val="535F6B"/>
                </a:solidFill>
                <a:latin typeface="Segoe UI"/>
              </a:rPr>
              <a:t>•  The plan assumed the backlog would fill itself. It cannot be reconstructed afterwards — the definition of done now requires each task's acceptance conditions to be checked off in the task's own row, so an unfilled row is visible at the review instead of after it.</a:t>
            </a:r>
          </a:p>
          <a:p>
            <a:pPr>
              <a:spcAft>
                <a:spcPts val="1100"/>
              </a:spcAft>
            </a:pPr>
            <a:r>
              <a:rPr sz="1200" b="0" i="0">
                <a:solidFill>
                  <a:srgbClr val="535F6B"/>
                </a:solidFill>
                <a:latin typeface="Segoe UI"/>
              </a:rPr>
              <a:t>•  The plan had no task for the model migration. Replacing the first edition with the core-N models re-pointed every requirement reference by hand and reintroduced two faults that had already been fixed. A migration is a re-plan, and a re-plan needs its acceptance criteria re-run.</a:t>
            </a:r>
          </a:p>
          <a:p>
            <a:pPr>
              <a:spcAft>
                <a:spcPts val="1100"/>
              </a:spcAft>
            </a:pPr>
            <a:r>
              <a:rPr sz="1200" b="0" i="0">
                <a:solidFill>
                  <a:srgbClr val="535F6B"/>
                </a:solidFill>
                <a:latin typeface="Segoe UI"/>
              </a:rPr>
              <a:t>•  A run was treated as evidence of the level above it. The worker test for the refund passed while the model could not catch the error the worker raised (DEF-12). Evidence has a level, and a claim made at the wrong level is not evidence.</a:t>
            </a:r>
          </a:p>
          <a:p>
            <a:pPr>
              <a:spcAft>
                <a:spcPts val="1100"/>
              </a:spcAft>
            </a:pPr>
            <a:r>
              <a:rPr sz="1200" b="0" i="0">
                <a:solidFill>
                  <a:srgbClr val="535F6B"/>
                </a:solidFill>
                <a:latin typeface="Segoe UI"/>
              </a:rPr>
              <a:t>•  Role-based access and the audit trail were left in the requirements as Must and never planned. They are now explicitly deferred in the plan's scope — a recorded decision, not a silent omission.</a:t>
            </a:r>
          </a:p>
          <a:p>
            <a:pPr>
              <a:spcAft>
                <a:spcPts val="1100"/>
              </a:spcAft>
            </a:pPr>
            <a:r>
              <a:rPr sz="1200" b="0" i="0">
                <a:solidFill>
                  <a:srgbClr val="535F6B"/>
                </a:solidFill>
                <a:latin typeface="Segoe UI"/>
              </a:rPr>
              <a:t>•  Estimates were never agreed: three sprints carry "not assessable". The cause is not time — it is that models and workers produce something reviewable and a backlog produces a table that cannot, so the visible work won.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Acceptance criteria at the revised version</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tests/test-plan.md sections 3–6; docs/planning/plan-evaluation.md section 6; tests/evidence/*_378b319_2026-10-15.txt</a:t>
            </a:r>
          </a:p>
        </p:txBody>
      </p:sp>
      <p:graphicFrame>
        <p:nvGraphicFramePr>
          <p:cNvPr id="5" name="Table 4"/>
          <p:cNvGraphicFramePr>
            <a:graphicFrameLocks noGrp="1"/>
          </p:cNvGraphicFramePr>
          <p:nvPr/>
        </p:nvGraphicFramePr>
        <p:xfrm>
          <a:off x="566928" y="1024128"/>
          <a:ext cx="11064240" cy="4343400"/>
        </p:xfrm>
        <a:graphic>
          <a:graphicData uri="http://schemas.openxmlformats.org/drawingml/2006/table">
            <a:tbl>
              <a:tblPr>
                <a:tableStyleId>{5C22544A-7EE6-4342-B048-85BDC9FD1C3A}</a:tableStyleId>
              </a:tblPr>
              <a:tblGrid>
                <a:gridCol w="3108960"/>
                <a:gridCol w="2011680"/>
                <a:gridCol w="3017520"/>
                <a:gridCol w="2926080"/>
              </a:tblGrid>
              <a:tr h="868680">
                <a:tc>
                  <a:txBody>
                    <a:bodyPr wrap="square"/>
                    <a:lstStyle/>
                    <a:p>
                      <a:pPr>
                        <a:spcAft>
                          <a:spcPts val="0"/>
                        </a:spcAft>
                      </a:pPr>
                      <a:r>
                        <a:rPr sz="950" b="1">
                          <a:solidFill>
                            <a:srgbClr val="FFFFFF"/>
                          </a:solidFill>
                          <a:latin typeface="Segoe UI"/>
                        </a:rPr>
                        <a:t>Criterion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Initial release</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Revised version</a:t>
                      </a:r>
                    </a:p>
                  </a:txBody>
                  <a:tcPr marL="64008" marR="45720" marT="18288" marB="18288" anchor="t">
                    <a:solidFill>
                      <a:srgbClr val="10233A"/>
                    </a:solidFill>
                  </a:tcPr>
                </a:tc>
                <a:tc>
                  <a:txBody>
                    <a:bodyPr wrap="square"/>
                    <a:lstStyle/>
                    <a:p>
                      <a:pPr>
                        <a:spcAft>
                          <a:spcPts val="0"/>
                        </a:spcAft>
                      </a:pPr>
                      <a:r>
                        <a:rPr sz="950" b="1">
                          <a:solidFill>
                            <a:srgbClr val="FFFFFF"/>
                          </a:solidFill>
                          <a:latin typeface="Segoe UI"/>
                        </a:rPr>
                        <a:t>What moved it, and what still limits it</a:t>
                      </a:r>
                    </a:p>
                  </a:txBody>
                  <a:tcPr marL="64008" marR="45720" marT="18288" marB="18288" anchor="t">
                    <a:solidFill>
                      <a:srgbClr val="10233A"/>
                    </a:solidFill>
                  </a:tcPr>
                </a:tc>
              </a:tr>
              <a:tr h="868680">
                <a:tc>
                  <a:txBody>
                    <a:bodyPr wrap="square"/>
                    <a:lstStyle/>
                    <a:p>
                      <a:pPr>
                        <a:spcAft>
                          <a:spcPts val="0"/>
                        </a:spcAft>
                      </a:pPr>
                      <a:r>
                        <a:rPr sz="900" b="0">
                          <a:solidFill>
                            <a:srgbClr val="535F6B"/>
                          </a:solidFill>
                          <a:latin typeface="Segoe UI"/>
                        </a:rPr>
                        <a:t>AC-01 normal pathway and patient contact</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Met at worker level</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TC-13 drives all three telephone outcomes; the form half remains DEF-08</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AC-02 clinical decisions and their gates; AC-03 funding and payment; AC-04 exception routing; AC-05 no suitable slot and urgent referrals; AC-08 refund and separation; AC-09 data minimisation; AC-10 controlled failure</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Re-run at 378b319; all three referral decisions are now driven, where TC-02 had two</a:t>
                      </a:r>
                    </a:p>
                  </a:txBody>
                  <a:tcPr marL="64008" marR="45720" marT="18288" marB="18288" anchor="t">
                    <a:solidFill>
                      <a:srgbClr val="F4F7F9"/>
                    </a:solidFill>
                  </a:tcPr>
                </a:tc>
              </a:tr>
              <a:tr h="868680">
                <a:tc>
                  <a:txBody>
                    <a:bodyPr wrap="square"/>
                    <a:lstStyle/>
                    <a:p>
                      <a:pPr>
                        <a:spcAft>
                          <a:spcPts val="0"/>
                        </a:spcAft>
                      </a:pPr>
                      <a:r>
                        <a:rPr sz="900" b="0">
                          <a:solidFill>
                            <a:srgbClr val="535F6B"/>
                          </a:solidFill>
                          <a:latin typeface="Segoe UI"/>
                        </a:rPr>
                        <a:t>AC-06 clinic letter, seven-day target and escalation</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Partially met — the timer's path had never been run</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Partially met, on a better basis: the timer fires with no worker, and the reminder and escalation are driven (TC-16)</a:t>
                      </a:r>
                    </a:p>
                  </a:txBody>
                  <a:tcPr marL="64008" marR="45720" marT="18288" marB="18288" anchor="t">
                    <a:solidFill>
                      <a:srgbClr val="FFFFFF"/>
                    </a:solidFill>
                  </a:tcPr>
                </a:tc>
                <a:tc>
                  <a:txBody>
                    <a:bodyPr wrap="square"/>
                    <a:lstStyle/>
                    <a:p>
                      <a:pPr>
                        <a:spcAft>
                          <a:spcPts val="0"/>
                        </a:spcAft>
                      </a:pPr>
                      <a:r>
                        <a:rPr sz="900" b="0">
                          <a:solidFill>
                            <a:srgbClr val="535F6B"/>
                          </a:solidFill>
                          <a:latin typeface="Segoe UI"/>
                        </a:rPr>
                        <a:t>What remains is that the escalation thresholds are recorded data, not measured periods — said in the evaluation rather than rounded up</a:t>
                      </a:r>
                    </a:p>
                  </a:txBody>
                  <a:tcPr marL="64008" marR="45720" marT="18288" marB="18288" anchor="t">
                    <a:solidFill>
                      <a:srgbClr val="FFFFFF"/>
                    </a:solidFill>
                  </a:tcPr>
                </a:tc>
              </a:tr>
              <a:tr h="868680">
                <a:tc>
                  <a:txBody>
                    <a:bodyPr wrap="square"/>
                    <a:lstStyle/>
                    <a:p>
                      <a:pPr>
                        <a:spcAft>
                          <a:spcPts val="0"/>
                        </a:spcAft>
                      </a:pPr>
                      <a:r>
                        <a:rPr sz="900" b="0">
                          <a:solidFill>
                            <a:srgbClr val="535F6B"/>
                          </a:solidFill>
                          <a:latin typeface="Segoe UI"/>
                        </a:rPr>
                        <a:t>AC-07 follow-up, cancellation and enquiries</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Partially 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Partially met</a:t>
                      </a:r>
                    </a:p>
                  </a:txBody>
                  <a:tcPr marL="64008" marR="45720" marT="18288" marB="18288" anchor="t">
                    <a:solidFill>
                      <a:srgbClr val="F4F7F9"/>
                    </a:solidFill>
                  </a:tcPr>
                </a:tc>
                <a:tc>
                  <a:txBody>
                    <a:bodyPr wrap="square"/>
                    <a:lstStyle/>
                    <a:p>
                      <a:pPr>
                        <a:spcAft>
                          <a:spcPts val="0"/>
                        </a:spcAft>
                      </a:pPr>
                      <a:r>
                        <a:rPr sz="900" b="0">
                          <a:solidFill>
                            <a:srgbClr val="535F6B"/>
                          </a:solidFill>
                          <a:latin typeface="Segoe UI"/>
                        </a:rPr>
                        <a:t>The routing is driven; the record BR-37 requires still comes from the API, not a signed-in user (DEF-08)</a:t>
                      </a:r>
                    </a:p>
                  </a:txBody>
                  <a:tcPr marL="64008" marR="45720" marT="18288" marB="18288" anchor="t">
                    <a:solidFill>
                      <a:srgbClr val="F4F7F9"/>
                    </a:solidFill>
                  </a:tcPr>
                </a:tc>
              </a:tr>
            </a:tbl>
          </a:graphicData>
        </a:graphic>
      </p:graphicFrame>
      <p:sp>
        <p:nvSpPr>
          <p:cNvPr id="6" name="TextBox 5"/>
          <p:cNvSpPr txBox="1"/>
          <p:nvPr/>
        </p:nvSpPr>
        <p:spPr>
          <a:xfrm>
            <a:off x="566928" y="5513832"/>
            <a:ext cx="11064240" cy="822960"/>
          </a:xfrm>
          <a:prstGeom prst="rect">
            <a:avLst/>
          </a:prstGeom>
          <a:noFill/>
        </p:spPr>
        <p:txBody>
          <a:bodyPr wrap="square">
            <a:spAutoFit/>
          </a:bodyPr>
          <a:lstStyle/>
          <a:p>
            <a:pPr>
              <a:spcAft>
                <a:spcPts val="0"/>
              </a:spcAft>
            </a:pPr>
            <a:r>
              <a:rPr sz="1050" b="0" i="0">
                <a:solidFill>
                  <a:srgbClr val="535F6B"/>
                </a:solidFill>
                <a:latin typeface="Segoe UI"/>
              </a:rPr>
              <a:t>Every scenario now has a result: 25 of 25 — 18 pass and 7 pass in part. The criteria text was not rewritten; the second release revises the verdicts and the runs behind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Repository, versions, and how to run it</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README.md 'Running it'; tools/README.md; models/operational/README.md</a:t>
            </a:r>
          </a:p>
        </p:txBody>
      </p:sp>
      <p:sp>
        <p:nvSpPr>
          <p:cNvPr id="5" name="TextBox 4"/>
          <p:cNvSpPr txBox="1"/>
          <p:nvPr/>
        </p:nvSpPr>
        <p:spPr>
          <a:xfrm>
            <a:off x="566928" y="1005840"/>
            <a:ext cx="5349240" cy="5120640"/>
          </a:xfrm>
          <a:prstGeom prst="rect">
            <a:avLst/>
          </a:prstGeom>
          <a:noFill/>
        </p:spPr>
        <p:txBody>
          <a:bodyPr wrap="square">
            <a:spAutoFit/>
          </a:bodyPr>
          <a:lstStyle/>
          <a:p>
            <a:pPr>
              <a:spcAft>
                <a:spcPts val="500"/>
              </a:spcAft>
            </a:pPr>
            <a:r>
              <a:rPr sz="1300" b="1" i="0">
                <a:solidFill>
                  <a:srgbClr val="10233A"/>
                </a:solidFill>
                <a:latin typeface="Segoe UI"/>
              </a:rPr>
              <a:t>Versions</a:t>
            </a:r>
          </a:p>
          <a:p>
            <a:pPr>
              <a:spcAft>
                <a:spcPts val="600"/>
              </a:spcAft>
            </a:pPr>
            <a:r>
              <a:rPr sz="1150" b="0" i="0">
                <a:solidFill>
                  <a:srgbClr val="535F6B"/>
                </a:solidFill>
                <a:latin typeface="Segoe UI"/>
              </a:rPr>
              <a:t>•  Read the revised version at tag submission-2026-10-22.</a:t>
            </a:r>
          </a:p>
          <a:p>
            <a:pPr>
              <a:spcAft>
                <a:spcPts val="600"/>
              </a:spcAft>
            </a:pPr>
            <a:r>
              <a:rPr sz="1150" b="0" i="0">
                <a:solidFill>
                  <a:srgbClr val="535F6B"/>
                </a:solidFill>
                <a:latin typeface="Segoe UI"/>
              </a:rPr>
              <a:t>•  The initial release is tag submission-2026-09-29 (release-2.0 names the same tree); release-1.0 is the first tagged release and is left where it is, because the results recorded against it are only readable there.</a:t>
            </a:r>
          </a:p>
          <a:p>
            <a:pPr>
              <a:spcAft>
                <a:spcPts val="600"/>
              </a:spcAft>
            </a:pPr>
            <a:r>
              <a:rPr sz="1150" b="0" i="0">
                <a:solidFill>
                  <a:srgbClr val="535F6B"/>
                </a:solidFill>
                <a:latin typeface="Segoe UI"/>
              </a:rPr>
              <a:t>•  Every result in tests/evidence/ names the commit it was produced at.</a:t>
            </a:r>
          </a:p>
          <a:p>
            <a:pPr>
              <a:spcAft>
                <a:spcPts val="500"/>
              </a:spcAft>
            </a:pPr>
            <a:r>
              <a:rPr sz="1300" b="1" i="0">
                <a:solidFill>
                  <a:srgbClr val="10233A"/>
                </a:solidFill>
                <a:latin typeface="Segoe UI"/>
              </a:rPr>
              <a:t>Run it</a:t>
            </a:r>
          </a:p>
          <a:p>
            <a:pPr>
              <a:spcAft>
                <a:spcPts val="600"/>
              </a:spcAft>
            </a:pPr>
            <a:r>
              <a:rPr sz="1150" b="0" i="0">
                <a:solidFill>
                  <a:srgbClr val="535F6B"/>
                </a:solidFill>
                <a:latin typeface="Segoe UI"/>
              </a:rPr>
              <a:t>•  camunda-runtime\start-camunda.bat — the engine (Java 21; the first start takes about a minute).</a:t>
            </a:r>
          </a:p>
          <a:p>
            <a:pPr>
              <a:spcAft>
                <a:spcPts val="600"/>
              </a:spcAft>
            </a:pPr>
            <a:r>
              <a:rPr sz="1150" b="0" i="0">
                <a:solidFill>
                  <a:srgbClr val="535F6B"/>
                </a:solidFill>
                <a:latin typeface="Segoe UI"/>
              </a:rPr>
              <a:t>•  Deploy models/operational/*.bpmn and forms/*.form together — a task resolves its form by key.</a:t>
            </a:r>
          </a:p>
          <a:p>
            <a:pPr>
              <a:spcAft>
                <a:spcPts val="600"/>
              </a:spcAft>
            </a:pPr>
            <a:r>
              <a:rPr sz="1150" b="0" i="0">
                <a:solidFill>
                  <a:srgbClr val="535F6B"/>
                </a:solidFill>
                <a:latin typeface="Segoe UI"/>
              </a:rPr>
              <a:t>•  Workers: cd workers &amp;&amp; mvn compile exec:java; the records land in workers/data/ (HPRTAS_DB_URL moves the store).</a:t>
            </a:r>
          </a:p>
          <a:p>
            <a:pPr>
              <a:spcAft>
                <a:spcPts val="600"/>
              </a:spcAft>
            </a:pPr>
            <a:r>
              <a:rPr sz="1150" b="0" i="0">
                <a:solidFill>
                  <a:srgbClr val="535F6B"/>
                </a:solidFill>
                <a:latin typeface="Segoe UI"/>
              </a:rPr>
              <a:t>•  Tasklist at localhost:8080/tasklist, login demo / demo.</a:t>
            </a:r>
          </a:p>
        </p:txBody>
      </p:sp>
      <p:sp>
        <p:nvSpPr>
          <p:cNvPr id="6" name="TextBox 5"/>
          <p:cNvSpPr txBox="1"/>
          <p:nvPr/>
        </p:nvSpPr>
        <p:spPr>
          <a:xfrm>
            <a:off x="6263640" y="1005840"/>
            <a:ext cx="5349240" cy="5120640"/>
          </a:xfrm>
          <a:prstGeom prst="rect">
            <a:avLst/>
          </a:prstGeom>
          <a:noFill/>
        </p:spPr>
        <p:txBody>
          <a:bodyPr wrap="square">
            <a:spAutoFit/>
          </a:bodyPr>
          <a:lstStyle/>
          <a:p>
            <a:pPr>
              <a:spcAft>
                <a:spcPts val="500"/>
              </a:spcAft>
            </a:pPr>
            <a:r>
              <a:rPr sz="1300" b="1" i="0">
                <a:solidFill>
                  <a:srgbClr val="10233A"/>
                </a:solidFill>
                <a:latin typeface="Segoe UI"/>
              </a:rPr>
              <a:t>Check it</a:t>
            </a:r>
          </a:p>
          <a:p>
            <a:pPr>
              <a:spcAft>
                <a:spcPts val="600"/>
              </a:spcAft>
            </a:pPr>
            <a:r>
              <a:rPr sz="1150" b="0" i="0">
                <a:solidFill>
                  <a:srgbClr val="535F6B"/>
                </a:solidFill>
                <a:latin typeface="Segoe UI"/>
              </a:rPr>
              <a:t>•  python tools/verify_hprtas_bpmn_bindings.py — the models, forms and workers agree.</a:t>
            </a:r>
          </a:p>
          <a:p>
            <a:pPr>
              <a:spcAft>
                <a:spcPts val="600"/>
              </a:spcAft>
            </a:pPr>
            <a:r>
              <a:rPr sz="1150" b="0" i="0">
                <a:solidFill>
                  <a:srgbClr val="535F6B"/>
                </a:solidFill>
                <a:latin typeface="Segoe UI"/>
              </a:rPr>
              <a:t>•  python tools/verify_hprtas_bpmn_layout.py — the layout and the BPMN rules.</a:t>
            </a:r>
          </a:p>
          <a:p>
            <a:pPr>
              <a:spcAft>
                <a:spcPts val="600"/>
              </a:spcAft>
            </a:pPr>
            <a:r>
              <a:rPr sz="1150" b="0" i="0">
                <a:solidFill>
                  <a:srgbClr val="535F6B"/>
                </a:solidFill>
                <a:latin typeface="Segoe UI"/>
              </a:rPr>
              <a:t>•  python tools/verify_hprtas_istar.py and verify_hprtas_pistar.py — the i* models and their piStar files.</a:t>
            </a:r>
          </a:p>
          <a:p>
            <a:pPr>
              <a:spcAft>
                <a:spcPts val="600"/>
              </a:spcAft>
            </a:pPr>
            <a:r>
              <a:rPr sz="1150" b="0" i="0">
                <a:solidFill>
                  <a:srgbClr val="535F6B"/>
                </a:solidFill>
                <a:latin typeface="Segoe UI"/>
              </a:rPr>
              <a:t>•  cd workers &amp;&amp; mvn test, then mvn test -Pengine — 52 unit and 14 engine tests.</a:t>
            </a:r>
          </a:p>
          <a:p>
            <a:pPr>
              <a:spcAft>
                <a:spcPts val="600"/>
              </a:spcAft>
            </a:pPr>
            <a:r>
              <a:rPr sz="1150" b="0" i="0">
                <a:solidFill>
                  <a:srgbClr val="535F6B"/>
                </a:solidFill>
                <a:latin typeface="Segoe UI"/>
              </a:rPr>
              <a:t>•  The checks need no engine except the engine-form one, and each says what it did not cover.</a:t>
            </a:r>
          </a:p>
          <a:p>
            <a:pPr>
              <a:spcAft>
                <a:spcPts val="500"/>
              </a:spcAft>
            </a:pPr>
            <a:r>
              <a:rPr sz="1300" b="1" i="0">
                <a:solidFill>
                  <a:srgbClr val="10233A"/>
                </a:solidFill>
                <a:latin typeface="Segoe UI"/>
              </a:rPr>
              <a:t>The written evaluations</a:t>
            </a:r>
          </a:p>
          <a:p>
            <a:pPr>
              <a:spcAft>
                <a:spcPts val="600"/>
              </a:spcAft>
            </a:pPr>
            <a:r>
              <a:rPr sz="1150" b="0" i="0">
                <a:solidFill>
                  <a:srgbClr val="535F6B"/>
                </a:solidFill>
                <a:latin typeface="Segoe UI"/>
              </a:rPr>
              <a:t>•  docs/planning/exports/plan-evaluation.docx and tests/exports/test-plan.docx are the Word renderings of the two evaluation documents.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566928"/>
          </a:xfrm>
          <a:prstGeom prst="rect">
            <a:avLst/>
          </a:prstGeom>
          <a:noFill/>
        </p:spPr>
        <p:txBody>
          <a:bodyPr wrap="square">
            <a:spAutoFit/>
          </a:bodyPr>
          <a:lstStyle/>
          <a:p>
            <a:pPr>
              <a:spcAft>
                <a:spcPts val="0"/>
              </a:spcAft>
            </a:pPr>
            <a:r>
              <a:rPr sz="2200" b="1" i="0">
                <a:solidFill>
                  <a:srgbClr val="10233A"/>
                </a:solidFill>
                <a:latin typeface="Segoe UI"/>
              </a:rPr>
              <a:t>References and evidence links</a:t>
            </a:r>
          </a:p>
        </p:txBody>
      </p:sp>
      <p:sp>
        <p:nvSpPr>
          <p:cNvPr id="3" name="Rectangle 2"/>
          <p:cNvSpPr/>
          <p:nvPr/>
        </p:nvSpPr>
        <p:spPr>
          <a:xfrm>
            <a:off x="585216" y="886968"/>
            <a:ext cx="11018520" cy="20320"/>
          </a:xfrm>
          <a:prstGeom prst="rect">
            <a:avLst/>
          </a:prstGeom>
          <a:solidFill>
            <a:srgbClr val="D6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437376"/>
            <a:ext cx="11064240" cy="292608"/>
          </a:xfrm>
          <a:prstGeom prst="rect">
            <a:avLst/>
          </a:prstGeom>
          <a:noFill/>
        </p:spPr>
        <p:txBody>
          <a:bodyPr wrap="square">
            <a:spAutoFit/>
          </a:bodyPr>
          <a:lstStyle/>
          <a:p>
            <a:pPr>
              <a:spcAft>
                <a:spcPts val="0"/>
              </a:spcAft>
            </a:pPr>
            <a:r>
              <a:rPr sz="850" b="0" i="0">
                <a:solidFill>
                  <a:srgbClr val="8A949E"/>
                </a:solidFill>
                <a:latin typeface="Segoe UI"/>
              </a:rPr>
              <a:t>HPRTAS · every path below is in the repository; read it at tag submission-2026-10-22</a:t>
            </a:r>
          </a:p>
        </p:txBody>
      </p:sp>
      <p:sp>
        <p:nvSpPr>
          <p:cNvPr id="5" name="TextBox 4"/>
          <p:cNvSpPr txBox="1"/>
          <p:nvPr/>
        </p:nvSpPr>
        <p:spPr>
          <a:xfrm>
            <a:off x="566928" y="1024128"/>
            <a:ext cx="11064240" cy="5303520"/>
          </a:xfrm>
          <a:prstGeom prst="rect">
            <a:avLst/>
          </a:prstGeom>
          <a:noFill/>
        </p:spPr>
        <p:txBody>
          <a:bodyPr wrap="square">
            <a:spAutoFit/>
          </a:bodyPr>
          <a:lstStyle/>
          <a:p>
            <a:pPr>
              <a:spcAft>
                <a:spcPts val="800"/>
              </a:spcAft>
            </a:pPr>
            <a:r>
              <a:rPr sz="1150" b="0" i="0">
                <a:solidFill>
                  <a:srgbClr val="535F6B"/>
                </a:solidFill>
                <a:latin typeface="Segoe UI"/>
              </a:rPr>
              <a:t>•  Repository: github.com/GuardFell/HPRTAS — the revised version is tag submission-2026-10-22; the initial release is submission-2026-09-29.</a:t>
            </a:r>
          </a:p>
          <a:p>
            <a:pPr>
              <a:spcAft>
                <a:spcPts val="800"/>
              </a:spcAft>
            </a:pPr>
            <a:r>
              <a:rPr sz="1150" b="0" i="0">
                <a:solidFill>
                  <a:srgbClr val="535F6B"/>
                </a:solidFill>
                <a:latin typeface="Segoe UI"/>
              </a:rPr>
              <a:t>•  The evaluation: docs/planning/plan-evaluation.md — requirement traceability (section 3), the models against the forms and workers (4), the plan (5), the criteria (6); Word form at docs/planning/exports/plan-evaluation.docx.</a:t>
            </a:r>
          </a:p>
          <a:p>
            <a:pPr>
              <a:spcAft>
                <a:spcPts val="800"/>
              </a:spcAft>
            </a:pPr>
            <a:r>
              <a:rPr sz="1150" b="0" i="0">
                <a:solidFill>
                  <a:srgbClr val="535F6B"/>
                </a:solidFill>
                <a:latin typeface="Segoe UI"/>
              </a:rPr>
              <a:t>•  The requirements and their traceability: docs/requirements/requirements.md.</a:t>
            </a:r>
          </a:p>
          <a:p>
            <a:pPr>
              <a:spcAft>
                <a:spcPts val="800"/>
              </a:spcAft>
            </a:pPr>
            <a:r>
              <a:rPr sz="1150" b="0" i="0">
                <a:solidFill>
                  <a:srgbClr val="535F6B"/>
                </a:solidFill>
                <a:latin typeface="Segoe UI"/>
              </a:rPr>
              <a:t>•  The tests: tests/test-plan.md — criteria (3), scenarios (4), the execution record (5), defects and limitations (6) — and the runs in tests/evidence/, including the four records of 2026-10-15.</a:t>
            </a:r>
          </a:p>
          <a:p>
            <a:pPr>
              <a:spcAft>
                <a:spcPts val="800"/>
              </a:spcAft>
            </a:pPr>
            <a:r>
              <a:rPr sz="1150" b="0" i="0">
                <a:solidFill>
                  <a:srgbClr val="535F6B"/>
                </a:solidFill>
                <a:latin typeface="Segoe UI"/>
              </a:rPr>
              <a:t>•  The response to the feedback: docs/agile/response-to-feedback.md.</a:t>
            </a:r>
          </a:p>
          <a:p>
            <a:pPr>
              <a:spcAft>
                <a:spcPts val="800"/>
              </a:spcAft>
            </a:pPr>
            <a:r>
              <a:rPr sz="1150" b="0" i="0">
                <a:solidFill>
                  <a:srgbClr val="535F6B"/>
                </a:solidFill>
                <a:latin typeface="Segoe UI"/>
              </a:rPr>
              <a:t>•  The demonstration: docs/agile/demonstration-script.md — the flow, the commit and the limits.</a:t>
            </a:r>
          </a:p>
          <a:p>
            <a:pPr>
              <a:spcAft>
                <a:spcPts val="800"/>
              </a:spcAft>
            </a:pPr>
            <a:r>
              <a:rPr sz="1150" b="0" i="0">
                <a:solidFill>
                  <a:srgbClr val="535F6B"/>
                </a:solidFill>
                <a:latin typeface="Segoe UI"/>
              </a:rPr>
              <a:t>•  The models: models/README.md; models/strategic/; models/socio-technical/ (i* SD and SR, with the piStar files); models/operational/; the drawings in models/exports/ as PDF and PNG.</a:t>
            </a:r>
          </a:p>
          <a:p>
            <a:pPr>
              <a:spcAft>
                <a:spcPts val="800"/>
              </a:spcAft>
            </a:pPr>
            <a:r>
              <a:rPr sz="1150" b="0" i="0">
                <a:solidFill>
                  <a:srgbClr val="535F6B"/>
                </a:solidFill>
                <a:latin typeface="Segoe UI"/>
              </a:rPr>
              <a:t>•  The workers and the forms: workers/README.md, forms/README.md; the checks and generators: tools/README.md.</a:t>
            </a:r>
          </a:p>
          <a:p>
            <a:pPr>
              <a:spcAft>
                <a:spcPts val="800"/>
              </a:spcAft>
            </a:pPr>
            <a:r>
              <a:rPr sz="1150" b="0" i="0">
                <a:solidFill>
                  <a:srgbClr val="535F6B"/>
                </a:solidFill>
                <a:latin typeface="Segoe UI"/>
              </a:rPr>
              <a:t>•  The group's own record: Group Contribution Table.docx, at the repository root.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